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  <p:sldMasterId id="2147483664" r:id="rId4"/>
    <p:sldMasterId id="2147483677" r:id="rId5"/>
    <p:sldMasterId id="2147483690" r:id="rId6"/>
    <p:sldMasterId id="2147483703" r:id="rId7"/>
    <p:sldMasterId id="2147483716" r:id="rId8"/>
    <p:sldMasterId id="2147483729" r:id="rId9"/>
    <p:sldMasterId id="2147483742" r:id="rId10"/>
    <p:sldMasterId id="2147483755" r:id="rId11"/>
  </p:sldMasterIdLst>
  <p:notesMasterIdLst>
    <p:notesMasterId r:id="rId13"/>
  </p:notesMasterIdLst>
  <p:handoutMasterIdLst>
    <p:handoutMasterId r:id="rId23"/>
  </p:handoutMasterIdLst>
  <p:sldIdLst>
    <p:sldId id="256" r:id="rId12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1365" cy="6858000"/>
  <p:notesSz cx="6858000" cy="12191365"/>
  <p:embeddedFontLst>
    <p:embeddedFont>
      <p:font typeface="Inter Bold" panose="02000503000000020004" pitchFamily="34" charset="-122"/>
      <p:bold r:id="rId27"/>
    </p:embeddedFont>
    <p:embeddedFont>
      <p:font typeface="Consolas" panose="020B0609020204030204" pitchFamily="34" charset="-122"/>
      <p:regular r:id="rId28"/>
      <p:bold r:id="rId29"/>
      <p:italic r:id="rId30"/>
      <p:boldItalic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68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79681"/>
            <a:ext cx="2971800" cy="6116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79681"/>
            <a:ext cx="2971800" cy="6116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" Type="http://schemas.openxmlformats.org/officeDocument/2006/relationships/tags" Target="../tags/tag278.xml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5" Type="http://schemas.openxmlformats.org/officeDocument/2006/relationships/tags" Target="../tags/tag299.xml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7" Type="http://schemas.openxmlformats.org/officeDocument/2006/relationships/tags" Target="../tags/tag331.xml"/><Relationship Id="rId6" Type="http://schemas.openxmlformats.org/officeDocument/2006/relationships/tags" Target="../tags/tag330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6" Type="http://schemas.openxmlformats.org/officeDocument/2006/relationships/tags" Target="../tags/tag377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7" Type="http://schemas.openxmlformats.org/officeDocument/2006/relationships/tags" Target="../tags/tag393.xml"/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tags" Target="../tags/tag396.xml"/><Relationship Id="rId3" Type="http://schemas.openxmlformats.org/officeDocument/2006/relationships/tags" Target="../tags/tag395.xml"/><Relationship Id="rId2" Type="http://schemas.openxmlformats.org/officeDocument/2006/relationships/tags" Target="../tags/tag394.xml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4" Type="http://schemas.openxmlformats.org/officeDocument/2006/relationships/tags" Target="../tags/tag408.xml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6" Type="http://schemas.openxmlformats.org/officeDocument/2006/relationships/tags" Target="../tags/tag428.xml"/><Relationship Id="rId5" Type="http://schemas.openxmlformats.org/officeDocument/2006/relationships/tags" Target="../tags/tag427.xml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6" Type="http://schemas.openxmlformats.org/officeDocument/2006/relationships/tags" Target="../tags/tag439.xml"/><Relationship Id="rId5" Type="http://schemas.openxmlformats.org/officeDocument/2006/relationships/tags" Target="../tags/tag438.xml"/><Relationship Id="rId4" Type="http://schemas.openxmlformats.org/officeDocument/2006/relationships/tags" Target="../tags/tag437.xml"/><Relationship Id="rId3" Type="http://schemas.openxmlformats.org/officeDocument/2006/relationships/tags" Target="../tags/tag436.xml"/><Relationship Id="rId2" Type="http://schemas.openxmlformats.org/officeDocument/2006/relationships/tags" Target="../tags/tag435.xml"/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6" Type="http://schemas.openxmlformats.org/officeDocument/2006/relationships/tags" Target="../tags/tag444.xml"/><Relationship Id="rId5" Type="http://schemas.openxmlformats.org/officeDocument/2006/relationships/tags" Target="../tags/tag443.xml"/><Relationship Id="rId4" Type="http://schemas.openxmlformats.org/officeDocument/2006/relationships/tags" Target="../tags/tag442.xml"/><Relationship Id="rId3" Type="http://schemas.openxmlformats.org/officeDocument/2006/relationships/tags" Target="../tags/tag441.xml"/><Relationship Id="rId2" Type="http://schemas.openxmlformats.org/officeDocument/2006/relationships/tags" Target="../tags/tag440.xml"/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9" Type="http://schemas.openxmlformats.org/officeDocument/2006/relationships/tags" Target="../tags/tag463.xml"/><Relationship Id="rId8" Type="http://schemas.openxmlformats.org/officeDocument/2006/relationships/tags" Target="../tags/tag462.xml"/><Relationship Id="rId7" Type="http://schemas.openxmlformats.org/officeDocument/2006/relationships/tags" Target="../tags/tag461.xml"/><Relationship Id="rId6" Type="http://schemas.openxmlformats.org/officeDocument/2006/relationships/tags" Target="../tags/tag460.xml"/><Relationship Id="rId5" Type="http://schemas.openxmlformats.org/officeDocument/2006/relationships/tags" Target="../tags/tag459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7" Type="http://schemas.openxmlformats.org/officeDocument/2006/relationships/tags" Target="../tags/tag476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tags" Target="../tags/tag488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6" Type="http://schemas.openxmlformats.org/officeDocument/2006/relationships/tags" Target="../tags/tag501.xml"/><Relationship Id="rId5" Type="http://schemas.openxmlformats.org/officeDocument/2006/relationships/tags" Target="../tags/tag500.xml"/><Relationship Id="rId4" Type="http://schemas.openxmlformats.org/officeDocument/2006/relationships/tags" Target="../tags/tag499.xml"/><Relationship Id="rId3" Type="http://schemas.openxmlformats.org/officeDocument/2006/relationships/tags" Target="../tags/tag498.xml"/><Relationship Id="rId2" Type="http://schemas.openxmlformats.org/officeDocument/2006/relationships/tags" Target="../tags/tag497.xml"/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4" Type="http://schemas.openxmlformats.org/officeDocument/2006/relationships/tags" Target="../tags/tag504.xml"/><Relationship Id="rId3" Type="http://schemas.openxmlformats.org/officeDocument/2006/relationships/tags" Target="../tags/tag503.xml"/><Relationship Id="rId2" Type="http://schemas.openxmlformats.org/officeDocument/2006/relationships/tags" Target="../tags/tag502.xml"/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6" Type="http://schemas.openxmlformats.org/officeDocument/2006/relationships/tags" Target="../tags/tag511.xml"/><Relationship Id="rId5" Type="http://schemas.openxmlformats.org/officeDocument/2006/relationships/tags" Target="../tags/tag510.xml"/><Relationship Id="rId4" Type="http://schemas.openxmlformats.org/officeDocument/2006/relationships/tags" Target="../tags/tag509.xml"/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tags" Target="../tags/tag514.xml"/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tags" Target="../tags/tag525.xml"/><Relationship Id="rId8" Type="http://schemas.openxmlformats.org/officeDocument/2006/relationships/tags" Target="../tags/tag524.xml"/><Relationship Id="rId7" Type="http://schemas.openxmlformats.org/officeDocument/2006/relationships/tags" Target="../tags/tag523.xml"/><Relationship Id="rId6" Type="http://schemas.openxmlformats.org/officeDocument/2006/relationships/tags" Target="../tags/tag522.xml"/><Relationship Id="rId5" Type="http://schemas.openxmlformats.org/officeDocument/2006/relationships/tags" Target="../tags/tag521.xml"/><Relationship Id="rId4" Type="http://schemas.openxmlformats.org/officeDocument/2006/relationships/tags" Target="../tags/tag520.xml"/><Relationship Id="rId3" Type="http://schemas.openxmlformats.org/officeDocument/2006/relationships/tags" Target="../tags/tag519.xml"/><Relationship Id="rId2" Type="http://schemas.openxmlformats.org/officeDocument/2006/relationships/tags" Target="../tags/tag518.xml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4" Type="http://schemas.openxmlformats.org/officeDocument/2006/relationships/tags" Target="../tags/tag532.xml"/><Relationship Id="rId3" Type="http://schemas.openxmlformats.org/officeDocument/2006/relationships/tags" Target="../tags/tag531.xml"/><Relationship Id="rId2" Type="http://schemas.openxmlformats.org/officeDocument/2006/relationships/tags" Target="../tags/tag530.xml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7" Type="http://schemas.openxmlformats.org/officeDocument/2006/relationships/tags" Target="../tags/tag538.xml"/><Relationship Id="rId6" Type="http://schemas.openxmlformats.org/officeDocument/2006/relationships/tags" Target="../tags/tag537.xml"/><Relationship Id="rId5" Type="http://schemas.openxmlformats.org/officeDocument/2006/relationships/tags" Target="../tags/tag536.xml"/><Relationship Id="rId4" Type="http://schemas.openxmlformats.org/officeDocument/2006/relationships/tags" Target="../tags/tag535.xml"/><Relationship Id="rId3" Type="http://schemas.openxmlformats.org/officeDocument/2006/relationships/tags" Target="../tags/tag534.xml"/><Relationship Id="rId2" Type="http://schemas.openxmlformats.org/officeDocument/2006/relationships/tags" Target="../tags/tag533.xml"/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6" Type="http://schemas.openxmlformats.org/officeDocument/2006/relationships/tags" Target="../tags/tag543.xml"/><Relationship Id="rId5" Type="http://schemas.openxmlformats.org/officeDocument/2006/relationships/tags" Target="../tags/tag542.xml"/><Relationship Id="rId4" Type="http://schemas.openxmlformats.org/officeDocument/2006/relationships/tags" Target="../tags/tag541.xml"/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5" Type="http://schemas.openxmlformats.org/officeDocument/2006/relationships/tags" Target="../tags/tag547.xml"/><Relationship Id="rId4" Type="http://schemas.openxmlformats.org/officeDocument/2006/relationships/tags" Target="../tags/tag546.xml"/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738" y="914400"/>
            <a:ext cx="979869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738" y="3560400"/>
            <a:ext cx="979869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368" y="1490400"/>
            <a:ext cx="10968629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696" y="3848400"/>
            <a:ext cx="776839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696" y="4615200"/>
            <a:ext cx="776839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368" y="1501200"/>
            <a:ext cx="517653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266" y="1501200"/>
            <a:ext cx="517653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68" y="1429200"/>
            <a:ext cx="5342122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368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1421729"/>
            <a:ext cx="5342122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854000"/>
            <a:ext cx="5342122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68" y="608400"/>
            <a:ext cx="10968629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68" y="1555200"/>
            <a:ext cx="5232804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069" y="1555200"/>
            <a:ext cx="522692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267" y="914400"/>
            <a:ext cx="1043946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352" y="914400"/>
            <a:ext cx="9168722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368" y="774000"/>
            <a:ext cx="10972229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738" y="2484000"/>
            <a:ext cx="979869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738" y="3560400"/>
            <a:ext cx="979869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9" Type="http://schemas.openxmlformats.org/officeDocument/2006/relationships/theme" Target="../theme/theme4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9" Type="http://schemas.openxmlformats.org/officeDocument/2006/relationships/theme" Target="../theme/theme5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9" Type="http://schemas.openxmlformats.org/officeDocument/2006/relationships/theme" Target="../theme/theme6.xml"/><Relationship Id="rId18" Type="http://schemas.openxmlformats.org/officeDocument/2006/relationships/tags" Target="../tags/tag310.xml"/><Relationship Id="rId17" Type="http://schemas.openxmlformats.org/officeDocument/2006/relationships/tags" Target="../tags/tag309.xml"/><Relationship Id="rId16" Type="http://schemas.openxmlformats.org/officeDocument/2006/relationships/tags" Target="../tags/tag308.xml"/><Relationship Id="rId15" Type="http://schemas.openxmlformats.org/officeDocument/2006/relationships/tags" Target="../tags/tag307.xml"/><Relationship Id="rId14" Type="http://schemas.openxmlformats.org/officeDocument/2006/relationships/tags" Target="../tags/tag306.xml"/><Relationship Id="rId13" Type="http://schemas.openxmlformats.org/officeDocument/2006/relationships/tags" Target="../tags/tag305.xml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0.xml"/><Relationship Id="rId7" Type="http://schemas.openxmlformats.org/officeDocument/2006/relationships/slideLayout" Target="../slideLayouts/slideLayout69.xml"/><Relationship Id="rId6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9" Type="http://schemas.openxmlformats.org/officeDocument/2006/relationships/theme" Target="../theme/theme7.xml"/><Relationship Id="rId18" Type="http://schemas.openxmlformats.org/officeDocument/2006/relationships/tags" Target="../tags/tag372.xml"/><Relationship Id="rId17" Type="http://schemas.openxmlformats.org/officeDocument/2006/relationships/tags" Target="../tags/tag371.xml"/><Relationship Id="rId16" Type="http://schemas.openxmlformats.org/officeDocument/2006/relationships/tags" Target="../tags/tag370.xml"/><Relationship Id="rId15" Type="http://schemas.openxmlformats.org/officeDocument/2006/relationships/tags" Target="../tags/tag369.xml"/><Relationship Id="rId14" Type="http://schemas.openxmlformats.org/officeDocument/2006/relationships/tags" Target="../tags/tag368.xml"/><Relationship Id="rId13" Type="http://schemas.openxmlformats.org/officeDocument/2006/relationships/tags" Target="../tags/tag367.xml"/><Relationship Id="rId12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6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9" Type="http://schemas.openxmlformats.org/officeDocument/2006/relationships/theme" Target="../theme/theme8.xml"/><Relationship Id="rId18" Type="http://schemas.openxmlformats.org/officeDocument/2006/relationships/tags" Target="../tags/tag434.xml"/><Relationship Id="rId17" Type="http://schemas.openxmlformats.org/officeDocument/2006/relationships/tags" Target="../tags/tag433.xml"/><Relationship Id="rId16" Type="http://schemas.openxmlformats.org/officeDocument/2006/relationships/tags" Target="../tags/tag432.xml"/><Relationship Id="rId15" Type="http://schemas.openxmlformats.org/officeDocument/2006/relationships/tags" Target="../tags/tag431.xml"/><Relationship Id="rId14" Type="http://schemas.openxmlformats.org/officeDocument/2006/relationships/tags" Target="../tags/tag430.xml"/><Relationship Id="rId13" Type="http://schemas.openxmlformats.org/officeDocument/2006/relationships/tags" Target="../tags/tag429.xml"/><Relationship Id="rId12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8.xml"/><Relationship Id="rId19" Type="http://schemas.openxmlformats.org/officeDocument/2006/relationships/theme" Target="../theme/theme9.xml"/><Relationship Id="rId18" Type="http://schemas.openxmlformats.org/officeDocument/2006/relationships/tags" Target="../tags/tag496.xml"/><Relationship Id="rId17" Type="http://schemas.openxmlformats.org/officeDocument/2006/relationships/tags" Target="../tags/tag495.xml"/><Relationship Id="rId16" Type="http://schemas.openxmlformats.org/officeDocument/2006/relationships/tags" Target="../tags/tag494.xml"/><Relationship Id="rId15" Type="http://schemas.openxmlformats.org/officeDocument/2006/relationships/tags" Target="../tags/tag493.xml"/><Relationship Id="rId14" Type="http://schemas.openxmlformats.org/officeDocument/2006/relationships/tags" Target="../tags/tag492.xml"/><Relationship Id="rId13" Type="http://schemas.openxmlformats.org/officeDocument/2006/relationships/tags" Target="../tags/tag491.xml"/><Relationship Id="rId12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6.xml"/><Relationship Id="rId1" Type="http://schemas.openxmlformats.org/officeDocument/2006/relationships/slideLayout" Target="../slideLayouts/slideLayout8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0.xml"/><Relationship Id="rId19" Type="http://schemas.openxmlformats.org/officeDocument/2006/relationships/theme" Target="../theme/theme10.xml"/><Relationship Id="rId18" Type="http://schemas.openxmlformats.org/officeDocument/2006/relationships/tags" Target="../tags/tag558.xml"/><Relationship Id="rId17" Type="http://schemas.openxmlformats.org/officeDocument/2006/relationships/tags" Target="../tags/tag557.xml"/><Relationship Id="rId16" Type="http://schemas.openxmlformats.org/officeDocument/2006/relationships/tags" Target="../tags/tag556.xml"/><Relationship Id="rId15" Type="http://schemas.openxmlformats.org/officeDocument/2006/relationships/tags" Target="../tags/tag555.xml"/><Relationship Id="rId14" Type="http://schemas.openxmlformats.org/officeDocument/2006/relationships/tags" Target="../tags/tag554.xml"/><Relationship Id="rId13" Type="http://schemas.openxmlformats.org/officeDocument/2006/relationships/tags" Target="../tags/tag553.xml"/><Relationship Id="rId12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368" y="608400"/>
            <a:ext cx="1096862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368" y="1490400"/>
            <a:ext cx="10968629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196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86" y="6314400"/>
            <a:ext cx="395979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138" y="6314400"/>
            <a:ext cx="269985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905" y="1334770"/>
            <a:ext cx="10893425" cy="516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4420" y="1082040"/>
            <a:ext cx="10893425" cy="769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Design and Simulation of a Segmented Enterprise</a:t>
            </a:r>
            <a:endParaRPr lang="en-US" sz="3200" b="1" kern="0" spc="-49" dirty="0">
              <a:solidFill>
                <a:srgbClr val="000000"/>
              </a:solidFill>
              <a:latin typeface="Times New Roman" panose="02020603050405020304" charset="0"/>
              <a:ea typeface="Inter Bold" panose="02000503000000020004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 Network to Limit the Impact of Cyberattacks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5185" y="2465705"/>
            <a:ext cx="10868025" cy="1370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32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Research Topic: Limiting the Impact of a Cyberattack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32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Presented by: Matchoffo Lepe Miran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32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Track: Computer Networking and Cybersecurity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endParaRPr lang="en-US" sz="32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865" y="325120"/>
            <a:ext cx="10869295" cy="516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Introduction &amp; Problem Statement</a:t>
            </a:r>
            <a:endParaRPr lang="en-US" sz="3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3670" y="841792"/>
            <a:ext cx="10868745" cy="28443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Introduction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Focused on Networking and Cybersecurity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Designed a secure and segmented enterprise network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Performed authorized cybersecurity testing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The Problem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Poor network segmentation can allow attacks to spread laterally across an organization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Exposed services and vulnerable applications increase the overall attack surface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Security controls are needed to detect, contain, and limit attack impact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Without proper segmentation, a single compromised host can become a foothold for an entire network breach.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760" y="307638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Project Objectives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1295" y="824230"/>
            <a:ext cx="10868745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his project aimed to address real-world enterprise security challenges through simulation and authorized testing. The following objectives guided the work: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4940" y="1874778"/>
            <a:ext cx="10868745" cy="1554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Network Design: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Design a segmented enterprise network separating departments using VLANs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Traffic Control: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Control inter-department traffic using Access Control Lists (ACLs)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Core Services: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Configure DHCP for dynamic addressing and NAT/PAT for internet access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Security Testing: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Identify security weaknesses through authorized penetration testing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Traffic Analysis: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Analyze network traffic using Wireshark to observe attack patterns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770" y="123111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7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Cisco Network Design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536734"/>
            <a:ext cx="1147833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Topology — Cisco Packet Tracer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6470" y="1145540"/>
            <a:ext cx="10868660" cy="1131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2 Routers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4 Switches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10 PCs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1 Server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7 VLANs</a:t>
            </a:r>
            <a:endParaRPr lang="en-US" sz="2400" kern="0" spc="-21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35345" y="276860"/>
            <a:ext cx="10541000" cy="2876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VLAN Segmentation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57705" y="933371"/>
            <a:ext cx="10868745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Administration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Finance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Sales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Server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Guest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Management</a:t>
            </a:r>
            <a:endParaRPr lang="en-US" sz="2400" kern="0" spc="-21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6675" y="3783370"/>
            <a:ext cx="1147833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Technologies Implemented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2890" y="4284980"/>
            <a:ext cx="10833735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VLANs — Layer 2 segmentation to isolate broadcast domains per department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Inter-VLAN Routing — Controlled routing between VLANs via router-on-a-stick or Layer 3 switching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DHCP — Dynamic IP address assignment per VLAN scope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NAT/PAT — Address translation for outbound internet connectivity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2400" kern="0" spc="-21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ACLs — Access Control Lists to enforce traffic policies between segments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0000"/>
              </a:lnSpc>
              <a:buSzPct val="100000"/>
              <a:buNone/>
            </a:pPr>
            <a:endParaRPr lang="en-US" sz="2400" kern="0" spc="-21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 flipH="1">
            <a:off x="15412085" y="6734810"/>
            <a:ext cx="289433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230" y="324485"/>
            <a:ext cx="10935335" cy="516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Cybersecurity Lab Environment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4940" y="841375"/>
            <a:ext cx="11515725" cy="259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 controlled virtual laboratory was built to perform 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authorized security testing without risk to production systems.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6035" y="1859161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Lab Configuration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6035" y="2257088"/>
            <a:ext cx="10868745" cy="9095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Attacker: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Kali Linux — 192.168.56.103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Target: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Metasploitable2 — 192.168.56.104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905" y="3786505"/>
            <a:ext cx="10868660" cy="258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Tools &amp; Their Purpose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6035" y="4215825"/>
            <a:ext cx="10868745" cy="1554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Kali Linux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— Primary security testing platform with pre-installed offensive tools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Nmap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— Network scanner for host discovery and service enumeration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Wireshark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— Packet capture and traffic analysis tool for monitoring communications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1787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Security Testing</a:t>
            </a:r>
            <a:endParaRPr lang="en-US" sz="3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215509"/>
            <a:ext cx="11478330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Authorized testing was conducted across three main areas to identify 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and document security weaknesses in the lab environment</a:t>
            </a:r>
            <a:r>
              <a:rPr lang="en-US" sz="13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21151"/>
            <a:ext cx="10868745" cy="28443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Nmap Scanning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Identified the target host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Discovered exposed services and open ports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Metasploitable2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065" y="408146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Wireshark Traffic Analysis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9065" y="924739"/>
            <a:ext cx="10868745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Wireshark was used to capture and inspect network traffic between the attacker and target machines, providing visibility into the communication patterns generated during testing.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9065" y="1970842"/>
            <a:ext cx="10868745" cy="25281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Capture Setup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Interface: </a:t>
            </a:r>
            <a:r>
              <a:rPr lang="en-US" sz="2400" kern="0" spc="-26" dirty="0">
                <a:solidFill>
                  <a:srgbClr val="272525"/>
                </a:solidFill>
                <a:highlight>
                  <a:srgbClr val="F2F2F2"/>
                </a:highlight>
                <a:latin typeface="Times New Roman" panose="02020603050405020304" charset="0"/>
                <a:ea typeface="Consolas" panose="020B0609020204030204" pitchFamily="34" charset="-122"/>
                <a:cs typeface="Times New Roman" panose="02020603050405020304" charset="0"/>
              </a:rPr>
              <a:t>eth0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Filters applied to isolate relevant traffic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Observations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ICMP Traffic: Observed ping/echo request and reply sequences between hosts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HTTP Traffic: Identified plaintext HTTP requests and server responses during web testing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Filter Usage: Used display filters to isolate specific protocols and host pairs for focused analysis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240" y="153710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Findings, Challenges &amp; Solutions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05240" y="575231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Key Findings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5240" y="979507"/>
            <a:ext cx="10868745" cy="1554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VLANs effectively isolate departments and contain lateral movement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ACLs enforce granular control over inter-segment communication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Exposed services significantly increase the attack surface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Vulnerabilities can be systematically identified through structured testing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Wireshark provides actionable visibility into network traffic patterns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5240" y="3498929"/>
            <a:ext cx="10868745" cy="258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49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Challenges &amp; How They Were Resolved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5240" y="4032746"/>
            <a:ext cx="10868745" cy="12319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Connectivity issues — Checked IP configuration and routing tables</a:t>
            </a:r>
            <a:endParaRPr lang="en-US" sz="24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VLAN configuration errors — Verified VLAN assignments and trunk links</a:t>
            </a:r>
            <a:endParaRPr lang="en-US" sz="24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Service identification — Used Nmap for port and service scanning</a:t>
            </a:r>
            <a:endParaRPr lang="en-US" sz="24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kern="0" spc="-26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Traffic analysis complexity — Applied Wireshark display filters</a:t>
            </a:r>
            <a:endParaRPr lang="en-US" sz="2400" kern="0" spc="-26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00" y="337483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Conclusion</a:t>
            </a:r>
            <a:endParaRPr lang="en-US" sz="2400" b="1" kern="0" spc="-98" dirty="0">
              <a:solidFill>
                <a:srgbClr val="000000"/>
              </a:solidFill>
              <a:latin typeface="Times New Roman" panose="02020603050405020304" charset="0"/>
              <a:ea typeface="Inter Bold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9700" y="699770"/>
            <a:ext cx="10868745" cy="529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This project demonstrated how a combination of network design principles and cybersecurity testing practices can work together to reduce the impact of cyberattacks in an enterprise environment.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5240" y="2194183"/>
            <a:ext cx="10868745" cy="1554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Network Design: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Successfully designed and simulated a segmented enterprise network in Cisco Packet Tracer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Security Controls: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Implemented VLANs, ACLs, DHCP, and NAT/PAT as core network security controls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Authorized Testing: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Performed structured cybersecurity testing using Kali Linux, Nmap.</a:t>
            </a: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400" b="1" kern="0" spc="-26" dirty="0">
                <a:solidFill>
                  <a:srgbClr val="272525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Traffic Monitoring:</a:t>
            </a:r>
            <a:r>
              <a:rPr lang="en-US" sz="2400" kern="0" spc="-26" dirty="0">
                <a:solidFill>
                  <a:srgbClr val="272525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 Analyzed network traffic using Wireshark to observe and document attack communications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33000"/>
              </a:lnSpc>
              <a:buSzPct val="100000"/>
              <a:buNone/>
            </a:pPr>
            <a:endParaRPr lang="en-US" sz="2400" kern="0" spc="-26" dirty="0">
              <a:solidFill>
                <a:srgbClr val="272525"/>
              </a:solidFill>
              <a:latin typeface="Times New Roman" panose="02020603050405020304" charset="0"/>
              <a:ea typeface="Inter" panose="0200050300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9450" y="2274907"/>
            <a:ext cx="10868745" cy="5167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98" dirty="0">
                <a:solidFill>
                  <a:srgbClr val="000000"/>
                </a:solidFill>
                <a:latin typeface="Times New Roman" panose="02020603050405020304" charset="0"/>
                <a:ea typeface="Inter Bold" panose="02000503000000020004" pitchFamily="34" charset="-122"/>
                <a:cs typeface="Times New Roman" panose="02020603050405020304" charset="0"/>
              </a:rPr>
              <a:t>Thank You all for your keen attention.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3495080"/>
            <a:ext cx="11478330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945731"/>
            <a:ext cx="11478330" cy="2646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indent="0" algn="l">
              <a:lnSpc>
                <a:spcPct val="133000"/>
              </a:lnSpc>
              <a:buSzPct val="100000"/>
              <a:buNone/>
            </a:pPr>
            <a:endParaRPr lang="en-US" sz="1300" dirty="0"/>
          </a:p>
        </p:txBody>
      </p:sp>
      <p:sp>
        <p:nvSpPr>
          <p:cNvPr id="5" name="Text Box 4"/>
          <p:cNvSpPr txBox="1"/>
          <p:nvPr/>
        </p:nvSpPr>
        <p:spPr>
          <a:xfrm>
            <a:off x="4958715" y="2476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59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Blank Design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4463</Words>
  <Application>WPS Presentation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10</vt:i4>
      </vt:variant>
    </vt:vector>
  </HeadingPairs>
  <TitlesOfParts>
    <vt:vector size="35" baseType="lpstr">
      <vt:lpstr>Arial</vt:lpstr>
      <vt:lpstr>SimSun</vt:lpstr>
      <vt:lpstr>Wingdings</vt:lpstr>
      <vt:lpstr>Wingdings</vt:lpstr>
      <vt:lpstr>Times New Roman</vt:lpstr>
      <vt:lpstr>Inter Bold</vt:lpstr>
      <vt:lpstr>Inter</vt:lpstr>
      <vt:lpstr>Inter</vt:lpstr>
      <vt:lpstr>Corbel</vt:lpstr>
      <vt:lpstr>Inter</vt:lpstr>
      <vt:lpstr>Consolas</vt:lpstr>
      <vt:lpstr>Microsoft YaHei</vt:lpstr>
      <vt:lpstr>Arial Unicode MS</vt:lpstr>
      <vt:lpstr>Calibri</vt:lpstr>
      <vt:lpstr>PMingLiU-ExtB</vt:lpstr>
      <vt:lpstr>Office Theme</vt:lpstr>
      <vt:lpstr>1_Blank Design</vt:lpstr>
      <vt:lpstr>2_Blank Design</vt:lpstr>
      <vt:lpstr>3_Blank Design</vt:lpstr>
      <vt:lpstr>4_Blank Design</vt:lpstr>
      <vt:lpstr>5_Blank Design</vt:lpstr>
      <vt:lpstr>6_Blank Design</vt:lpstr>
      <vt:lpstr>7_Blank Design</vt:lpstr>
      <vt:lpstr>8_Blank Design</vt:lpstr>
      <vt:lpstr>9_Blank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WPS_1787661678</cp:lastModifiedBy>
  <cp:revision>4</cp:revision>
  <dcterms:created xsi:type="dcterms:W3CDTF">2026-09-26T00:23:00Z</dcterms:created>
  <dcterms:modified xsi:type="dcterms:W3CDTF">2026-09-30T18:26:33Z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82A010B38FE34BFEB28715B211F1717E_13</vt:lpwstr>
  </property>
</Properties>
</file>